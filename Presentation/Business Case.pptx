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42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7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5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4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6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4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9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0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1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2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55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BF633-4524-7294-EEAA-02EE8CF8E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GB" sz="5400" b="1" dirty="0"/>
              <a:t>Bank Loan Analysis</a:t>
            </a:r>
            <a:br>
              <a:rPr lang="en-GB" sz="5400" b="1" dirty="0"/>
            </a:br>
            <a:r>
              <a:rPr lang="en-GB" sz="5400" b="1" dirty="0"/>
              <a:t>Business Case</a:t>
            </a:r>
            <a:endParaRPr lang="en-AU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33C9E-EED5-079F-2472-D3B555BC9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A2A86-CC0E-2A36-D3C0-C8408F692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5" r="-1" b="-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8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3534-E641-90C5-CDF9-A1E3BB1C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Company Overview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51424-9728-1E27-325D-D3010259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 Financial institution focused on consumer lending.</a:t>
            </a:r>
          </a:p>
          <a:p>
            <a:r>
              <a:rPr lang="en-GB" dirty="0"/>
              <a:t>To maintain a competitive edge and ensure fiscal responsibility, the bank is transitioning from static reporting to a dynamic.</a:t>
            </a:r>
          </a:p>
          <a:p>
            <a:r>
              <a:rPr lang="en-GB" dirty="0"/>
              <a:t>To oversee its diverse loan portfolio, the company is planning to implement data-driven analytical framework.</a:t>
            </a:r>
            <a:br>
              <a:rPr lang="en-GB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2873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9FC80-A38E-89F0-DBE7-57724C62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Challenges and Pain Points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D955C-B913-5EE7-8898-0FC4F0C00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bank is lacking real-time visibility in tracking immediate performance shifts in the month-to-date and month-to-month changes.</a:t>
            </a:r>
          </a:p>
          <a:p>
            <a:r>
              <a:rPr lang="en-AU" dirty="0"/>
              <a:t>The bank is facing challenges in identifying ‘Good’ and ‘Bad’ loans, which indicates a need for clear insights into risk and losses.</a:t>
            </a:r>
          </a:p>
          <a:p>
            <a:r>
              <a:rPr lang="en-AU" dirty="0"/>
              <a:t>The bank is unable to determine how geographical location, employment history, or home ownership impact loan disbursement.</a:t>
            </a:r>
          </a:p>
        </p:txBody>
      </p:sp>
    </p:spTree>
    <p:extLst>
      <p:ext uri="{BB962C8B-B14F-4D97-AF65-F5344CB8AC3E}">
        <p14:creationId xmlns:p14="http://schemas.microsoft.com/office/powerpoint/2010/main" val="690045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B614-FBBF-4B9F-298D-43D845CB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Goal and Success Criteria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9851-12EB-6124-4DB9-D07BF5199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establish a comprehensive reporting system that monitors and assesses lending activities and performance to facilitate data-driven decision-making.</a:t>
            </a:r>
          </a:p>
          <a:p>
            <a:r>
              <a:rPr lang="en-GB" dirty="0"/>
              <a:t>Ability to track the health of the loan portfolio through "Good" vs. "Bad" loan categorization.</a:t>
            </a:r>
          </a:p>
          <a:p>
            <a:r>
              <a:rPr lang="en-GB" dirty="0"/>
              <a:t>Identification of seasonality and regional disparities to inform fut. </a:t>
            </a:r>
            <a:r>
              <a:rPr lang="en-GB" dirty="0" err="1"/>
              <a:t>ure</a:t>
            </a:r>
            <a:r>
              <a:rPr lang="en-GB" dirty="0"/>
              <a:t> lending strategies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529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67F5-46E2-BE35-B87E-7647DBCF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AU" dirty="0" err="1"/>
              <a:t>takeholders</a:t>
            </a:r>
            <a:r>
              <a:rPr lang="en-AU" dirty="0"/>
              <a:t> and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CD0A9-2828-4323-9800-787DDA264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Executive Leadership: </a:t>
            </a:r>
            <a:r>
              <a:rPr lang="en-GB" dirty="0"/>
              <a:t>Requires high-level KPIs like Total Funded Amount and Total Amount Received to assess bank liquidity and cash flow.</a:t>
            </a:r>
            <a:br>
              <a:rPr lang="en-GB" sz="1800" dirty="0"/>
            </a:br>
            <a:endParaRPr lang="en-AU" sz="1800" dirty="0"/>
          </a:p>
          <a:p>
            <a:r>
              <a:rPr lang="en-AU" b="1" dirty="0"/>
              <a:t>Risk Management: </a:t>
            </a:r>
            <a:r>
              <a:rPr lang="en-GB" dirty="0"/>
              <a:t>Needs to monitor Average Interest Rates and Debt-to-Income (DTI) ratios to gauge borrower financial health and portfolio risk.</a:t>
            </a:r>
          </a:p>
          <a:p>
            <a:pPr marL="0" indent="0">
              <a:buNone/>
            </a:pPr>
            <a:endParaRPr lang="en-AU" b="1" dirty="0"/>
          </a:p>
          <a:p>
            <a:r>
              <a:rPr lang="en-AU" b="1" dirty="0"/>
              <a:t>Operations &amp; Strategy Teams: </a:t>
            </a:r>
            <a:r>
              <a:rPr lang="en-GB" dirty="0"/>
              <a:t>Require a "one-stop solution" for detailed borrower profiles and loan performance to refine lending criteria.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12923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51E0-BD0D-C98C-24EE-18A05FB04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 (KPIs)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75A35-DEF3-84ED-3BE1-04165185A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Total Applications:</a:t>
            </a:r>
            <a:r>
              <a:rPr lang="en-AU" dirty="0"/>
              <a:t> </a:t>
            </a:r>
            <a:r>
              <a:rPr lang="en-GB" dirty="0"/>
              <a:t>Count of applications received; tracked MTD and MoM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b="1" dirty="0"/>
              <a:t>Financial Flow:</a:t>
            </a:r>
            <a:r>
              <a:rPr lang="en-AU" dirty="0"/>
              <a:t> </a:t>
            </a:r>
            <a:r>
              <a:rPr lang="en-GB" dirty="0"/>
              <a:t>Total Funded Amount (disbursed) vs. Total Amount Received (repayments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b="1" dirty="0"/>
              <a:t>Risk Metrics:</a:t>
            </a:r>
            <a:r>
              <a:rPr lang="en-AU" dirty="0"/>
              <a:t> </a:t>
            </a:r>
            <a:r>
              <a:rPr lang="en-GB" dirty="0"/>
              <a:t>Average Interest Rate and Average Debt-to-Income (DTI) Ratio.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038375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306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Bank Loan Analysis Business Case</vt:lpstr>
      <vt:lpstr>Company Overview</vt:lpstr>
      <vt:lpstr>Key Challenges and Pain Points</vt:lpstr>
      <vt:lpstr>Business Goal and Success Criteria</vt:lpstr>
      <vt:lpstr>Stakeholders and Needs</vt:lpstr>
      <vt:lpstr>Key Performance Indicators (KPIs)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Pakhrin, Dhiraj</dc:creator>
  <cp:lastModifiedBy>Pakhrin, Dhiraj</cp:lastModifiedBy>
  <cp:revision>1</cp:revision>
  <dcterms:created xsi:type="dcterms:W3CDTF">2026-03-03T15:47:45Z</dcterms:created>
  <dcterms:modified xsi:type="dcterms:W3CDTF">2026-03-03T16:06:07Z</dcterms:modified>
</cp:coreProperties>
</file>