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A70F-9FD0-F934-6196-A27D31466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24DEE-32EF-AE08-1EBB-6D83D34BA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B101D-E358-E7F2-E884-CF45D1A6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415BC-2644-A4C3-D6A5-EB2E50477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6C4B8-71E1-F66C-2247-D4160978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954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B961-4C87-82A0-BA8D-2CC0409A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1467A-79D3-491B-6F87-E95C5E0E3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49CF9-5086-08D5-2DFD-83EAB51B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37A58-3EB5-AD30-735C-488DEB4C4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732A1-69BC-A5D2-8960-A97D667A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13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0254-9FB8-6BE8-8A77-B65E724E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38E6A-97B7-ACDC-77C7-0FB9B9E85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CB9CC-B3E0-2E83-C1B6-45D6F933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8F475-1436-F88A-F0E4-932C53C02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63C51-36EE-9E98-5E6F-A1A34D9E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8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6B0B-DF86-CA01-6A67-7BBC7413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1DCFC-B087-52C7-A080-55CC4A6F6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EF219-94F2-245A-8766-00EA5E67A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9D4CE-F344-D6A7-FD86-5F2F0AC3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E5392-BFE8-EA43-6DD2-0B0BFAA6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3EF6F-9B27-DCFF-5FB1-23239358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04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9C1D-82BB-FC01-BB54-AC06C1A6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F6530-52D6-ADB8-7E5F-1B767B918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CF5A8-7DB2-4650-2605-FEF20F47D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94A75-2BF7-66F8-E549-3AE9CDD53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75CDD-F59B-CB77-A62C-2BA91D754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ED33C-7BF2-E93B-714E-E2422E8E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5E7206-F169-6ADC-FDCE-B395CBEE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A1435D-C25A-0E80-993D-71D60929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80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022C-62DC-E7E7-668B-361FF578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D14E1-C82C-FEA5-4A38-5FC89841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70EAC-414A-6FC8-3236-E8F782D9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E6C75-CD31-CEF6-BB9D-04D985938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606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4DD79-9CF8-F7D2-4A0E-719CC45D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D085B-3B71-3C95-9F20-F94576F9E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04A17-C1CC-E6CF-73AE-C3A303A1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745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4705-A34A-EB3C-4B92-A165ACA1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CD269-519E-83C1-3315-20AEEB03F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F4064-3821-2984-C36E-65E2AFDDE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0E2F0-D7C1-148F-5B38-C8C31A3C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2136B-3723-C430-804E-96BDFCA6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3DEFA-A0BF-FB11-1CF5-BD873BD8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0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18B4-9080-843D-78FE-4C768322F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66DAB-5BF0-1BA2-FFD3-5356FBF9B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FB2FD-73FB-AA08-460E-BCB791BC2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4A749-4100-852D-ABED-FA636D044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45CD8-AB2C-1433-AB12-C34EB2A8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DE385-339E-49F0-66BA-2B451BF1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405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2BCB-816A-9EB0-0786-191861D1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1B349-247D-8B60-9D17-52E1AADCC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04383-8956-1DC2-403F-58175F425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922CB-69CC-1659-AF4B-0FD77A1A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56725-58BB-628D-ACD6-7C258792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295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5E051-3868-24F9-FA6A-E19F9AB41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3444C-5778-B96D-4677-C78523FB5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3D154-0880-B0E0-ADCC-3057EAAE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F8FA-2F62-8694-D5AE-BB6D984D4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C22F9-A73F-0C98-60E9-D96D5FAB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880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7FE34-7DE2-290F-345D-EFD5D9D6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CC03A-DD17-5715-F779-D070189B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70AAD-AB73-694D-AE77-99A299ADB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F2AF7-54DD-4454-8739-38CC26B4011A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4A949-6B19-D2DF-03AF-B85CE0E21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3D914-B4E3-E543-9293-6DB6CA951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94B0C-6905-48F9-A111-91231B7417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308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B6CD-746F-616D-687B-F453A6E955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Presentation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81B49-6B49-4B7C-41DF-779FD34D2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Bank Loan Analysis</a:t>
            </a:r>
          </a:p>
          <a:p>
            <a:r>
              <a:rPr lang="en-GB" dirty="0"/>
              <a:t>Dhiraj Pakhrin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011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8178-8B00-23B3-A35C-4B503A74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8"/>
            <a:ext cx="10971048" cy="833122"/>
          </a:xfrm>
        </p:spPr>
        <p:txBody>
          <a:bodyPr>
            <a:noAutofit/>
          </a:bodyPr>
          <a:lstStyle/>
          <a:p>
            <a:pPr algn="ctr"/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r>
              <a:rPr lang="en-GB" sz="4000" b="1" dirty="0"/>
              <a:t>Summary Dashboard</a:t>
            </a:r>
            <a:endParaRPr lang="en-AU" sz="40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4F33AB-79A3-AD22-FE86-4B6B48772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196" y="1849120"/>
            <a:ext cx="6787640" cy="381483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C7B66-3017-DE13-15A5-CAD883D9A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25600"/>
            <a:ext cx="3600132" cy="468376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The Month-to-Date (MTD) represents a </a:t>
            </a:r>
            <a:r>
              <a:rPr lang="en-GB" b="1" dirty="0"/>
              <a:t>6.9% Month-over-Month (MoM) increase</a:t>
            </a:r>
            <a:r>
              <a:rPr lang="en-GB" dirty="0"/>
              <a:t>, showing sustained demand.</a:t>
            </a:r>
          </a:p>
          <a:p>
            <a:pPr marL="285750" indent="-285750">
              <a:buFontTx/>
              <a:buChar char="-"/>
            </a:pPr>
            <a:r>
              <a:rPr lang="en-GB" dirty="0"/>
              <a:t>MTD funding grew by </a:t>
            </a:r>
            <a:r>
              <a:rPr lang="en-GB" b="1" dirty="0"/>
              <a:t>13.0%</a:t>
            </a:r>
            <a:r>
              <a:rPr lang="en-GB" dirty="0"/>
              <a:t>, indicating we are deploying capital more aggressively this month.</a:t>
            </a:r>
          </a:p>
          <a:p>
            <a:pPr marL="285750" indent="-285750">
              <a:buFontTx/>
              <a:buChar char="-"/>
            </a:pPr>
            <a:r>
              <a:rPr lang="en-GB" dirty="0"/>
              <a:t>We’ve seen a </a:t>
            </a:r>
            <a:r>
              <a:rPr lang="en-GB" b="1" dirty="0"/>
              <a:t>3.5% MoM increase</a:t>
            </a:r>
            <a:r>
              <a:rPr lang="en-GB" dirty="0"/>
              <a:t> in rates, which will increase our margins if the portfolio quality remains stable.</a:t>
            </a:r>
          </a:p>
          <a:p>
            <a:pPr marL="285750" indent="-285750">
              <a:buFontTx/>
              <a:buChar char="-"/>
            </a:pPr>
            <a:r>
              <a:rPr lang="en-GB" dirty="0"/>
              <a:t>Good Loans are performing exceptionally well, ensuring the bank remains liquid.</a:t>
            </a:r>
          </a:p>
          <a:p>
            <a:pPr marL="285750" indent="-285750">
              <a:buFontTx/>
              <a:buChar char="-"/>
            </a:pPr>
            <a:r>
              <a:rPr lang="en-GB" dirty="0"/>
              <a:t> The Bad Loan segment is where we face a challenge with a  net loss of roughly </a:t>
            </a:r>
            <a:r>
              <a:rPr lang="en-GB" b="1" dirty="0"/>
              <a:t>$28.2M</a:t>
            </a:r>
            <a:r>
              <a:rPr lang="en-GB" dirty="0"/>
              <a:t>.</a:t>
            </a:r>
          </a:p>
          <a:p>
            <a:pPr marL="285750" indent="-285750">
              <a:buFontTx/>
              <a:buChar char="-"/>
            </a:pPr>
            <a:r>
              <a:rPr lang="en-GB" dirty="0"/>
              <a:t>Charged Off loans have a higher average interest rate (</a:t>
            </a:r>
            <a:r>
              <a:rPr lang="en-GB" b="1" dirty="0"/>
              <a:t>13.88%</a:t>
            </a:r>
            <a:r>
              <a:rPr lang="en-GB" dirty="0"/>
              <a:t>) and DTI (</a:t>
            </a:r>
            <a:r>
              <a:rPr lang="en-GB" b="1" dirty="0"/>
              <a:t>14.0%</a:t>
            </a:r>
            <a:r>
              <a:rPr lang="en-GB" dirty="0"/>
              <a:t>) compared to "Fully Paid" loans. This confirms that our higher-interest products are correctly targeting higher-risk profiles, but the default rate on these needs tighter monitoring.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20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168D9-10ED-8CCC-AEE6-27BA85A1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55B5-861F-5C77-3CF4-D822F9F4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8"/>
            <a:ext cx="10971048" cy="833122"/>
          </a:xfrm>
        </p:spPr>
        <p:txBody>
          <a:bodyPr>
            <a:noAutofit/>
          </a:bodyPr>
          <a:lstStyle/>
          <a:p>
            <a:pPr algn="ctr"/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r>
              <a:rPr lang="en-GB" sz="4000" b="1" dirty="0"/>
              <a:t>Overview Dashboard</a:t>
            </a:r>
            <a:endParaRPr lang="en-AU" sz="40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A2DB9-35A2-855D-3487-8A074D692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25600"/>
            <a:ext cx="3600132" cy="4683760"/>
          </a:xfrm>
        </p:spPr>
        <p:txBody>
          <a:bodyPr>
            <a:normAutofit lnSpcReduction="10000"/>
          </a:bodyPr>
          <a:lstStyle/>
          <a:p>
            <a:pPr marL="285750" indent="-285750">
              <a:buFontTx/>
              <a:buChar char="-"/>
            </a:pPr>
            <a:r>
              <a:rPr lang="en-GB" b="1" dirty="0"/>
              <a:t>Debt Consolidation</a:t>
            </a:r>
            <a:r>
              <a:rPr lang="en-GB" dirty="0"/>
              <a:t> is our largest driver by a significant margin, accounting for </a:t>
            </a:r>
            <a:r>
              <a:rPr lang="en-GB" b="1" dirty="0"/>
              <a:t>18K</a:t>
            </a:r>
            <a:r>
              <a:rPr lang="en-GB" dirty="0"/>
              <a:t> applications. We must monitor if these borrowers are successfully deleveraging or simply shifting debt.</a:t>
            </a:r>
          </a:p>
          <a:p>
            <a:pPr marL="285750" indent="-285750">
              <a:buFontTx/>
              <a:buChar char="-"/>
            </a:pPr>
            <a:r>
              <a:rPr lang="en-GB" dirty="0"/>
              <a:t>Borrowers with </a:t>
            </a:r>
            <a:r>
              <a:rPr lang="en-GB" b="1" dirty="0"/>
              <a:t>10+ years</a:t>
            </a:r>
            <a:r>
              <a:rPr lang="en-GB" dirty="0"/>
              <a:t> of employment history are our most frequent applicants (</a:t>
            </a:r>
            <a:r>
              <a:rPr lang="en-GB" b="1" dirty="0"/>
              <a:t>8.9K</a:t>
            </a:r>
            <a:r>
              <a:rPr lang="en-GB" dirty="0"/>
              <a:t>), which generally correlates with higher stability and lower default risk.</a:t>
            </a:r>
          </a:p>
          <a:p>
            <a:pPr marL="285750" indent="-285750">
              <a:buFontTx/>
              <a:buChar char="-"/>
            </a:pPr>
            <a:r>
              <a:rPr lang="en-GB" dirty="0"/>
              <a:t>Our portfolio is heavily weighted toward </a:t>
            </a:r>
            <a:r>
              <a:rPr lang="en-GB" b="1" dirty="0"/>
              <a:t>Renters (18K)</a:t>
            </a:r>
            <a:r>
              <a:rPr lang="en-GB" dirty="0"/>
              <a:t> and those with </a:t>
            </a:r>
            <a:r>
              <a:rPr lang="en-GB" b="1" dirty="0"/>
              <a:t>Mortgages (17K)</a:t>
            </a:r>
            <a:r>
              <a:rPr lang="en-GB" dirty="0"/>
              <a:t>, while actual homeowners represent the smallest segment. This is a key data point for the Risk Team, as renters may have less collateral than homeowners during economic downturns.</a:t>
            </a:r>
            <a:br>
              <a:rPr lang="en-GB" dirty="0"/>
            </a:b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D094C-61A1-8942-0A78-8ABB31AAC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196" y="2010896"/>
            <a:ext cx="6805959" cy="38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2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E390B2-B9A8-1A62-0BDC-B94AA85B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Recommendation For Executives	</a:t>
            </a:r>
            <a:endParaRPr lang="en-AU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C5DC10-2461-8AE2-BE7B-6322FFCC5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Tighten Approval for High-DTI Applicants: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Charged-off loans have a higher average DTI of </a:t>
            </a:r>
            <a:r>
              <a:rPr lang="en-GB" b="1" dirty="0"/>
              <a:t>14.00%</a:t>
            </a:r>
            <a:r>
              <a:rPr lang="en-GB" dirty="0"/>
              <a:t> compared to fully paid loans at </a:t>
            </a:r>
            <a:r>
              <a:rPr lang="en-GB" b="1" dirty="0"/>
              <a:t>13.17%</a:t>
            </a:r>
            <a:r>
              <a:rPr lang="en-GB" dirty="0"/>
              <a:t>. We should consider lowering the debt-to-income threshold to reduce the </a:t>
            </a:r>
            <a:r>
              <a:rPr lang="en-GB" b="1" dirty="0"/>
              <a:t>13.8%</a:t>
            </a:r>
            <a:r>
              <a:rPr lang="en-GB" dirty="0"/>
              <a:t> "Bad Loan" rate.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AU" dirty="0"/>
              <a:t>Aggressive Recovery Strategy: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Implementing a more robust collection or secondary debt-sale strategy could help recoup a portion of the </a:t>
            </a:r>
            <a:r>
              <a:rPr lang="en-GB" b="1" dirty="0"/>
              <a:t>$28.2M</a:t>
            </a:r>
            <a:r>
              <a:rPr lang="en-GB" dirty="0"/>
              <a:t> currently lost.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AU" dirty="0"/>
          </a:p>
          <a:p>
            <a:pPr>
              <a:buFont typeface="Wingdings" panose="05000000000000000000" pitchFamily="2" charset="2"/>
              <a:buChar char="ü"/>
            </a:pPr>
            <a:r>
              <a:rPr lang="en-AU" dirty="0"/>
              <a:t>Monitor "Current" Loan Transition: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/>
              <a:t>Because of the highest Interest rate and DTI, </a:t>
            </a:r>
            <a:r>
              <a:rPr lang="en-GB" dirty="0"/>
              <a:t>this segment is at high risk of turning into "Bad Loans"; proactive outreach or refinancing options for these borrowers may prevent future defaults.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AU" dirty="0"/>
          </a:p>
          <a:p>
            <a:pPr>
              <a:buFont typeface="Wingdings" panose="05000000000000000000" pitchFamily="2" charset="2"/>
              <a:buChar char="ü"/>
            </a:pPr>
            <a:r>
              <a:rPr lang="en-AU" dirty="0"/>
              <a:t>Optimize Interest Rate Margins: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We must ensure our pricing increases are outpacing the increased risk profiles of new applicants to maintain profitability.</a:t>
            </a:r>
            <a:br>
              <a:rPr lang="en-GB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4375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D9BE-236B-1662-ECA3-3486D6EA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Recommendation for Risk Management	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CE9C2-AAD4-CB05-BBD7-CCDCA9D3B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933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GB" sz="2000" dirty="0"/>
              <a:t>Operational Scaling</a:t>
            </a:r>
            <a:r>
              <a:rPr lang="en-AU" sz="20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/>
              <a:t>Loan applications surged from </a:t>
            </a:r>
            <a:r>
              <a:rPr lang="en-GB" sz="1600" b="1" dirty="0"/>
              <a:t>3.8K in October</a:t>
            </a:r>
            <a:r>
              <a:rPr lang="en-GB" sz="1600" dirty="0"/>
              <a:t> to </a:t>
            </a:r>
            <a:r>
              <a:rPr lang="en-GB" sz="1600" b="1" dirty="0"/>
              <a:t>4.3K in December</a:t>
            </a:r>
            <a:r>
              <a:rPr lang="en-GB" sz="1600" dirty="0"/>
              <a:t>. Leadership should plan for increased staffing or automated processing capacity during the second half of the year to handle this consistent seasonal growth.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AU" sz="1600" dirty="0"/>
          </a:p>
          <a:p>
            <a:pPr>
              <a:buFont typeface="Wingdings" panose="05000000000000000000" pitchFamily="2" charset="2"/>
              <a:buChar char="ü"/>
            </a:pPr>
            <a:r>
              <a:rPr lang="en-AU" sz="2000" dirty="0"/>
              <a:t>Deep-Dive into Debt Consolidation: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/>
              <a:t>With </a:t>
            </a:r>
            <a:r>
              <a:rPr lang="en-GB" sz="1600" b="1" dirty="0"/>
              <a:t>18K</a:t>
            </a:r>
            <a:r>
              <a:rPr lang="en-GB" sz="1600" dirty="0"/>
              <a:t> applications, debt consolidation is our primary driver. We should audit the "Bad Loan" rate specifically for this category to ensure we aren't just taking on other institutions' high-risk debt.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AU" sz="1600" dirty="0"/>
          </a:p>
          <a:p>
            <a:pPr>
              <a:buFont typeface="Wingdings" panose="05000000000000000000" pitchFamily="2" charset="2"/>
              <a:buChar char="ü"/>
            </a:pPr>
            <a:r>
              <a:rPr lang="en-AU" sz="2000" dirty="0"/>
              <a:t>Incentivize Long-Term Employment: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/>
              <a:t>Borrowers with </a:t>
            </a:r>
            <a:r>
              <a:rPr lang="en-GB" sz="1600" b="1" dirty="0"/>
              <a:t>10+ years</a:t>
            </a:r>
            <a:r>
              <a:rPr lang="en-GB" sz="1600" dirty="0"/>
              <a:t> of employment are our largest and most stable segment (</a:t>
            </a:r>
            <a:r>
              <a:rPr lang="en-GB" sz="1600" b="1" dirty="0"/>
              <a:t>8.9K applications</a:t>
            </a:r>
            <a:r>
              <a:rPr lang="en-GB" sz="1600" dirty="0"/>
              <a:t>). We could offer "Loyalty Rates" to this group to further grow the "Good Loan" side of our portfolio.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AU" sz="1600" dirty="0"/>
          </a:p>
          <a:p>
            <a:pPr>
              <a:buFont typeface="Wingdings" panose="05000000000000000000" pitchFamily="2" charset="2"/>
              <a:buChar char="ü"/>
            </a:pPr>
            <a:r>
              <a:rPr lang="en-AU" sz="2000" dirty="0"/>
              <a:t>Review Renter vs Mortgage Risk: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b="1" dirty="0"/>
              <a:t>18K</a:t>
            </a:r>
            <a:r>
              <a:rPr lang="en-GB" sz="1600" dirty="0"/>
              <a:t> applications come from renters compared to </a:t>
            </a:r>
            <a:r>
              <a:rPr lang="en-GB" sz="1600" b="1" dirty="0"/>
              <a:t>17K</a:t>
            </a:r>
            <a:r>
              <a:rPr lang="en-GB" sz="1600" dirty="0"/>
              <a:t> from those with mortgages. Given the lack of property collateral, the risk team should verify if renters are over-represented in the </a:t>
            </a:r>
            <a:r>
              <a:rPr lang="en-GB" sz="1600" b="1" dirty="0"/>
              <a:t>13.8%</a:t>
            </a:r>
            <a:r>
              <a:rPr lang="en-GB" sz="1600" dirty="0"/>
              <a:t> "Bad Loan" figure and adjust terms for this segment accordingly.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AU" sz="1600" dirty="0"/>
          </a:p>
          <a:p>
            <a:pPr>
              <a:buFont typeface="Wingdings" panose="05000000000000000000" pitchFamily="2" charset="2"/>
              <a:buChar char="ü"/>
            </a:pPr>
            <a:r>
              <a:rPr lang="en-AU" sz="2000" dirty="0"/>
              <a:t>Focus on 36-Month Terms: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/>
              <a:t>Since </a:t>
            </a:r>
            <a:r>
              <a:rPr lang="en-GB" sz="1600" b="1" dirty="0"/>
              <a:t>73.2%</a:t>
            </a:r>
            <a:r>
              <a:rPr lang="en-GB" sz="1600" dirty="0"/>
              <a:t> of our portfolio is in 36-month terms, we have high capital turnover. We should leverage this liquidity to pivot quickly if the rising interest rate environment begins to negatively impact borrower repayment ability.</a:t>
            </a:r>
          </a:p>
        </p:txBody>
      </p:sp>
    </p:spTree>
    <p:extLst>
      <p:ext uri="{BB962C8B-B14F-4D97-AF65-F5344CB8AC3E}">
        <p14:creationId xmlns:p14="http://schemas.microsoft.com/office/powerpoint/2010/main" val="2541757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645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Data Presentation</vt:lpstr>
      <vt:lpstr>             Summary Dashboard</vt:lpstr>
      <vt:lpstr>             Overview Dashboard</vt:lpstr>
      <vt:lpstr>Recommendation For Executives </vt:lpstr>
      <vt:lpstr>Recommendation for Risk Management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Pakhrin, Dhiraj</dc:creator>
  <cp:lastModifiedBy>Pakhrin, Dhiraj</cp:lastModifiedBy>
  <cp:revision>2</cp:revision>
  <dcterms:created xsi:type="dcterms:W3CDTF">2026-03-03T16:27:09Z</dcterms:created>
  <dcterms:modified xsi:type="dcterms:W3CDTF">2026-03-03T22:04:46Z</dcterms:modified>
</cp:coreProperties>
</file>